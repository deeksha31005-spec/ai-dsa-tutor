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25"/>
            <a:ext cx="9144000" cy="42420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036126"/>
            <a:ext cx="9144000" cy="1073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20659" y="55194"/>
            <a:ext cx="965085" cy="3138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269" y="521969"/>
            <a:ext cx="3015589" cy="48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743" y="1526793"/>
            <a:ext cx="5332095" cy="2464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hyperlink" Target="mailto:deeksha31005@gmail.com" TargetMode="External"/><Relationship Id="rId10" Type="http://schemas.openxmlformats.org/officeDocument/2006/relationships/hyperlink" Target="mailto:misbahfathima785@gmail.com" TargetMode="External"/><Relationship Id="rId11" Type="http://schemas.openxmlformats.org/officeDocument/2006/relationships/hyperlink" Target="mailto:p70669355@gmail.com" TargetMode="External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jp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hyperlink" Target="https://ai-dsa-tutor-xttcrtgy7kavje5n62mypq.streamlit.app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5143500"/>
            <a:chOff x="0" y="0"/>
            <a:chExt cx="914463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4883" y="652906"/>
              <a:ext cx="3971925" cy="485140"/>
            </a:xfrm>
            <a:custGeom>
              <a:avLst/>
              <a:gdLst/>
              <a:ahLst/>
              <a:cxnLst/>
              <a:rect l="l" t="t" r="r" b="b"/>
              <a:pathLst>
                <a:path w="3971925" h="485140">
                  <a:moveTo>
                    <a:pt x="3891013" y="0"/>
                  </a:moveTo>
                  <a:lnTo>
                    <a:pt x="80835" y="0"/>
                  </a:lnTo>
                  <a:lnTo>
                    <a:pt x="49372" y="6353"/>
                  </a:lnTo>
                  <a:lnTo>
                    <a:pt x="23677" y="23685"/>
                  </a:lnTo>
                  <a:lnTo>
                    <a:pt x="6352" y="49399"/>
                  </a:lnTo>
                  <a:lnTo>
                    <a:pt x="0" y="80898"/>
                  </a:lnTo>
                  <a:lnTo>
                    <a:pt x="0" y="404240"/>
                  </a:lnTo>
                  <a:lnTo>
                    <a:pt x="6352" y="435667"/>
                  </a:lnTo>
                  <a:lnTo>
                    <a:pt x="23677" y="461343"/>
                  </a:lnTo>
                  <a:lnTo>
                    <a:pt x="49372" y="478661"/>
                  </a:lnTo>
                  <a:lnTo>
                    <a:pt x="80835" y="485013"/>
                  </a:lnTo>
                  <a:lnTo>
                    <a:pt x="3891013" y="485013"/>
                  </a:lnTo>
                  <a:lnTo>
                    <a:pt x="3922439" y="478661"/>
                  </a:lnTo>
                  <a:lnTo>
                    <a:pt x="3948115" y="461343"/>
                  </a:lnTo>
                  <a:lnTo>
                    <a:pt x="3965433" y="435667"/>
                  </a:lnTo>
                  <a:lnTo>
                    <a:pt x="3971785" y="404240"/>
                  </a:lnTo>
                  <a:lnTo>
                    <a:pt x="3971785" y="80898"/>
                  </a:lnTo>
                  <a:lnTo>
                    <a:pt x="3965433" y="49399"/>
                  </a:lnTo>
                  <a:lnTo>
                    <a:pt x="3948115" y="23685"/>
                  </a:lnTo>
                  <a:lnTo>
                    <a:pt x="3922439" y="6353"/>
                  </a:lnTo>
                  <a:lnTo>
                    <a:pt x="38910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64883" y="652906"/>
              <a:ext cx="3971925" cy="485140"/>
            </a:xfrm>
            <a:custGeom>
              <a:avLst/>
              <a:gdLst/>
              <a:ahLst/>
              <a:cxnLst/>
              <a:rect l="l" t="t" r="r" b="b"/>
              <a:pathLst>
                <a:path w="3971925" h="485140">
                  <a:moveTo>
                    <a:pt x="0" y="80898"/>
                  </a:moveTo>
                  <a:lnTo>
                    <a:pt x="6352" y="49399"/>
                  </a:lnTo>
                  <a:lnTo>
                    <a:pt x="23677" y="23685"/>
                  </a:lnTo>
                  <a:lnTo>
                    <a:pt x="49372" y="6353"/>
                  </a:lnTo>
                  <a:lnTo>
                    <a:pt x="80835" y="0"/>
                  </a:lnTo>
                  <a:lnTo>
                    <a:pt x="3891013" y="0"/>
                  </a:lnTo>
                  <a:lnTo>
                    <a:pt x="3922439" y="6353"/>
                  </a:lnTo>
                  <a:lnTo>
                    <a:pt x="3948115" y="23685"/>
                  </a:lnTo>
                  <a:lnTo>
                    <a:pt x="3965433" y="49399"/>
                  </a:lnTo>
                  <a:lnTo>
                    <a:pt x="3971785" y="80898"/>
                  </a:lnTo>
                  <a:lnTo>
                    <a:pt x="3971785" y="404240"/>
                  </a:lnTo>
                  <a:lnTo>
                    <a:pt x="3965433" y="435667"/>
                  </a:lnTo>
                  <a:lnTo>
                    <a:pt x="3948115" y="461343"/>
                  </a:lnTo>
                  <a:lnTo>
                    <a:pt x="3922439" y="478661"/>
                  </a:lnTo>
                  <a:lnTo>
                    <a:pt x="3891013" y="485013"/>
                  </a:lnTo>
                  <a:lnTo>
                    <a:pt x="80835" y="485013"/>
                  </a:lnTo>
                  <a:lnTo>
                    <a:pt x="49372" y="478661"/>
                  </a:lnTo>
                  <a:lnTo>
                    <a:pt x="23677" y="461343"/>
                  </a:lnTo>
                  <a:lnTo>
                    <a:pt x="6352" y="435667"/>
                  </a:lnTo>
                  <a:lnTo>
                    <a:pt x="0" y="404240"/>
                  </a:lnTo>
                  <a:lnTo>
                    <a:pt x="0" y="80898"/>
                  </a:lnTo>
                  <a:close/>
                </a:path>
              </a:pathLst>
            </a:custGeom>
            <a:ln w="19050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17321"/>
              <a:ext cx="7571232" cy="1261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29104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0460" y="768984"/>
              <a:ext cx="3423539" cy="4374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7884" y="971041"/>
              <a:ext cx="3040888" cy="30408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37884" y="971041"/>
              <a:ext cx="3041015" cy="3041015"/>
            </a:xfrm>
            <a:custGeom>
              <a:avLst/>
              <a:gdLst/>
              <a:ahLst/>
              <a:cxnLst/>
              <a:rect l="l" t="t" r="r" b="b"/>
              <a:pathLst>
                <a:path w="3041015" h="3041015">
                  <a:moveTo>
                    <a:pt x="2149983" y="0"/>
                  </a:moveTo>
                  <a:lnTo>
                    <a:pt x="3040888" y="890905"/>
                  </a:lnTo>
                  <a:lnTo>
                    <a:pt x="3040888" y="2149983"/>
                  </a:lnTo>
                  <a:lnTo>
                    <a:pt x="2149983" y="3040849"/>
                  </a:lnTo>
                  <a:lnTo>
                    <a:pt x="890905" y="3040849"/>
                  </a:lnTo>
                  <a:lnTo>
                    <a:pt x="0" y="2149983"/>
                  </a:lnTo>
                  <a:lnTo>
                    <a:pt x="0" y="890905"/>
                  </a:lnTo>
                  <a:lnTo>
                    <a:pt x="890905" y="0"/>
                  </a:lnTo>
                  <a:lnTo>
                    <a:pt x="2149983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022854"/>
              <a:ext cx="4224274" cy="3940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15827" y="494105"/>
              <a:ext cx="4328795" cy="4236720"/>
            </a:xfrm>
            <a:custGeom>
              <a:avLst/>
              <a:gdLst/>
              <a:ahLst/>
              <a:cxnLst/>
              <a:rect l="l" t="t" r="r" b="b"/>
              <a:pathLst>
                <a:path w="4328795" h="4236720">
                  <a:moveTo>
                    <a:pt x="855560" y="98653"/>
                  </a:moveTo>
                  <a:lnTo>
                    <a:pt x="721017" y="0"/>
                  </a:lnTo>
                  <a:lnTo>
                    <a:pt x="603707" y="86029"/>
                  </a:lnTo>
                  <a:lnTo>
                    <a:pt x="486397" y="0"/>
                  </a:lnTo>
                  <a:lnTo>
                    <a:pt x="369100" y="86029"/>
                  </a:lnTo>
                  <a:lnTo>
                    <a:pt x="251802" y="0"/>
                  </a:lnTo>
                  <a:lnTo>
                    <a:pt x="134493" y="86029"/>
                  </a:lnTo>
                  <a:lnTo>
                    <a:pt x="34417" y="12623"/>
                  </a:lnTo>
                  <a:lnTo>
                    <a:pt x="0" y="58724"/>
                  </a:lnTo>
                  <a:lnTo>
                    <a:pt x="134493" y="157378"/>
                  </a:lnTo>
                  <a:lnTo>
                    <a:pt x="251802" y="71361"/>
                  </a:lnTo>
                  <a:lnTo>
                    <a:pt x="369100" y="157378"/>
                  </a:lnTo>
                  <a:lnTo>
                    <a:pt x="486397" y="71361"/>
                  </a:lnTo>
                  <a:lnTo>
                    <a:pt x="603707" y="157391"/>
                  </a:lnTo>
                  <a:lnTo>
                    <a:pt x="721017" y="71361"/>
                  </a:lnTo>
                  <a:lnTo>
                    <a:pt x="821131" y="144767"/>
                  </a:lnTo>
                  <a:lnTo>
                    <a:pt x="855560" y="98653"/>
                  </a:lnTo>
                  <a:close/>
                </a:path>
                <a:path w="4328795" h="4236720">
                  <a:moveTo>
                    <a:pt x="4328198" y="3900347"/>
                  </a:moveTo>
                  <a:lnTo>
                    <a:pt x="4224858" y="3976141"/>
                  </a:lnTo>
                  <a:lnTo>
                    <a:pt x="4107548" y="3890111"/>
                  </a:lnTo>
                  <a:lnTo>
                    <a:pt x="3990251" y="3976141"/>
                  </a:lnTo>
                  <a:lnTo>
                    <a:pt x="3872954" y="3890111"/>
                  </a:lnTo>
                  <a:lnTo>
                    <a:pt x="3755644" y="3976141"/>
                  </a:lnTo>
                  <a:lnTo>
                    <a:pt x="3655568" y="3902735"/>
                  </a:lnTo>
                  <a:lnTo>
                    <a:pt x="3621138" y="3948836"/>
                  </a:lnTo>
                  <a:lnTo>
                    <a:pt x="3755644" y="4047490"/>
                  </a:lnTo>
                  <a:lnTo>
                    <a:pt x="3872954" y="3961473"/>
                  </a:lnTo>
                  <a:lnTo>
                    <a:pt x="3990251" y="4047490"/>
                  </a:lnTo>
                  <a:lnTo>
                    <a:pt x="4107548" y="3961473"/>
                  </a:lnTo>
                  <a:lnTo>
                    <a:pt x="4224858" y="4047490"/>
                  </a:lnTo>
                  <a:lnTo>
                    <a:pt x="4328198" y="3971709"/>
                  </a:lnTo>
                  <a:lnTo>
                    <a:pt x="4328198" y="3900347"/>
                  </a:lnTo>
                  <a:close/>
                </a:path>
                <a:path w="4328795" h="4236720">
                  <a:moveTo>
                    <a:pt x="4328211" y="4130319"/>
                  </a:moveTo>
                  <a:lnTo>
                    <a:pt x="4280573" y="4165257"/>
                  </a:lnTo>
                  <a:lnTo>
                    <a:pt x="4163276" y="4079227"/>
                  </a:lnTo>
                  <a:lnTo>
                    <a:pt x="4045966" y="4165257"/>
                  </a:lnTo>
                  <a:lnTo>
                    <a:pt x="3945890" y="4091851"/>
                  </a:lnTo>
                  <a:lnTo>
                    <a:pt x="3911460" y="4137952"/>
                  </a:lnTo>
                  <a:lnTo>
                    <a:pt x="4045966" y="4236605"/>
                  </a:lnTo>
                  <a:lnTo>
                    <a:pt x="4163276" y="4150588"/>
                  </a:lnTo>
                  <a:lnTo>
                    <a:pt x="4280573" y="4236605"/>
                  </a:lnTo>
                  <a:lnTo>
                    <a:pt x="4328211" y="4201680"/>
                  </a:lnTo>
                  <a:lnTo>
                    <a:pt x="4328211" y="413031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54253" y="1586230"/>
            <a:ext cx="2510155" cy="5816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>
                <a:solidFill>
                  <a:srgbClr val="0D358D"/>
                </a:solidFill>
                <a:latin typeface="Calibri"/>
                <a:cs typeface="Calibri"/>
              </a:rPr>
              <a:t>AI</a:t>
            </a:r>
            <a:r>
              <a:rPr dirty="0" sz="3650" spc="-130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3650" spc="160">
                <a:solidFill>
                  <a:srgbClr val="0D358D"/>
                </a:solidFill>
                <a:latin typeface="Calibri"/>
                <a:cs typeface="Calibri"/>
              </a:rPr>
              <a:t>DSA</a:t>
            </a:r>
            <a:r>
              <a:rPr dirty="0" sz="3650" spc="-120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3650" spc="-10">
                <a:solidFill>
                  <a:srgbClr val="0D358D"/>
                </a:solidFill>
                <a:latin typeface="Calibri"/>
                <a:cs typeface="Calibri"/>
              </a:rPr>
              <a:t>Tutor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253" y="3067253"/>
            <a:ext cx="224917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9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600" spc="2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9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600" spc="2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600" spc="229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7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600" spc="2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600" spc="229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5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1475" y="3067253"/>
            <a:ext cx="69405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55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55" b="1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55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600" spc="2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5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355" y="3437759"/>
            <a:ext cx="1230630" cy="94234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000" spc="-10">
                <a:latin typeface="Calibri"/>
                <a:cs typeface="Calibri"/>
              </a:rPr>
              <a:t>Student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Name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400" b="1">
                <a:solidFill>
                  <a:srgbClr val="0D358D"/>
                </a:solidFill>
                <a:latin typeface="Calibri"/>
                <a:cs typeface="Calibri"/>
              </a:rPr>
              <a:t>Deeksha</a:t>
            </a:r>
            <a:r>
              <a:rPr dirty="0" sz="1400" spc="185" b="1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0D358D"/>
                </a:solidFill>
                <a:latin typeface="Calibri"/>
                <a:cs typeface="Calibri"/>
              </a:rPr>
              <a:t>V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8600"/>
              </a:lnSpc>
              <a:spcBef>
                <a:spcPts val="10"/>
              </a:spcBef>
            </a:pPr>
            <a:r>
              <a:rPr dirty="0" sz="1400" b="1">
                <a:solidFill>
                  <a:srgbClr val="0D358D"/>
                </a:solidFill>
                <a:latin typeface="Calibri"/>
                <a:cs typeface="Calibri"/>
              </a:rPr>
              <a:t>Misbah</a:t>
            </a:r>
            <a:r>
              <a:rPr dirty="0" sz="1400" spc="-60" b="1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358D"/>
                </a:solidFill>
                <a:latin typeface="Calibri"/>
                <a:cs typeface="Calibri"/>
              </a:rPr>
              <a:t>Fathima Priyanka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7" name="object 17" descr="A blue circle with a person and a envelope in it  AI-generated content may be incorrect.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677" y="3495294"/>
            <a:ext cx="395325" cy="3818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039873" y="3495294"/>
            <a:ext cx="740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Calibri"/>
                <a:cs typeface="Calibri"/>
              </a:rPr>
              <a:t>Student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Email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9373" y="3864652"/>
            <a:ext cx="2410460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D358D"/>
                </a:solidFill>
                <a:latin typeface="Calibri"/>
                <a:cs typeface="Calibri"/>
                <a:hlinkClick r:id="rId9"/>
              </a:rPr>
              <a:t>deeksha31005@gmail.com</a:t>
            </a:r>
            <a:r>
              <a:rPr dirty="0" sz="1400" spc="-10" b="1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u="heavy" sz="1400" spc="-10" b="1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alibri"/>
                <a:cs typeface="Calibri"/>
                <a:hlinkClick r:id="rId10"/>
              </a:rPr>
              <a:t>misbahfathima785@gmail.com</a:t>
            </a:r>
            <a:r>
              <a:rPr dirty="0" u="none" sz="1400" spc="-10" b="1">
                <a:solidFill>
                  <a:srgbClr val="467885"/>
                </a:solidFill>
                <a:latin typeface="Calibri"/>
                <a:cs typeface="Calibri"/>
              </a:rPr>
              <a:t> </a:t>
            </a:r>
            <a:r>
              <a:rPr dirty="0" u="none" sz="1400" spc="-10" b="1">
                <a:solidFill>
                  <a:srgbClr val="0D358D"/>
                </a:solidFill>
                <a:latin typeface="Calibri"/>
                <a:cs typeface="Calibri"/>
                <a:hlinkClick r:id="rId11"/>
              </a:rPr>
              <a:t>p70669355@gmail.com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8536" y="723125"/>
            <a:ext cx="4131945" cy="3098165"/>
            <a:chOff x="428536" y="723125"/>
            <a:chExt cx="4131945" cy="3098165"/>
          </a:xfrm>
        </p:grpSpPr>
        <p:pic>
          <p:nvPicPr>
            <p:cNvPr id="21" name="object 21" descr="A blue circle with a person and a envelope in it  AI-generated content may be incorrect.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8145" y="3519335"/>
              <a:ext cx="356882" cy="3014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4523" y="3409632"/>
              <a:ext cx="375818" cy="381063"/>
            </a:xfrm>
            <a:prstGeom prst="rect">
              <a:avLst/>
            </a:prstGeom>
          </p:spPr>
        </p:pic>
        <p:pic>
          <p:nvPicPr>
            <p:cNvPr id="23" name="object 23" descr="A close up of a logo  AI-generated content may be incorrect.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536" y="774699"/>
              <a:ext cx="1010856" cy="227329"/>
            </a:xfrm>
            <a:prstGeom prst="rect">
              <a:avLst/>
            </a:prstGeom>
          </p:spPr>
        </p:pic>
        <p:pic>
          <p:nvPicPr>
            <p:cNvPr id="24" name="object 24" descr="A blue and black logo  AI-generated content may be incorrect.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17142" y="807491"/>
              <a:ext cx="632879" cy="158851"/>
            </a:xfrm>
            <a:prstGeom prst="rect">
              <a:avLst/>
            </a:prstGeom>
          </p:spPr>
        </p:pic>
        <p:pic>
          <p:nvPicPr>
            <p:cNvPr id="25" name="object 25" descr="A close up of a logo  AI-generated content may be incorrect.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38094" y="800798"/>
              <a:ext cx="564451" cy="18357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5470" y="800671"/>
              <a:ext cx="361683" cy="184721"/>
            </a:xfrm>
            <a:prstGeom prst="rect">
              <a:avLst/>
            </a:prstGeom>
          </p:spPr>
        </p:pic>
        <p:pic>
          <p:nvPicPr>
            <p:cNvPr id="27" name="object 27" descr="A black and white image  AI-generated content may be incorrect.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48610" y="723125"/>
              <a:ext cx="564451" cy="35866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633086" y="3445262"/>
            <a:ext cx="1730375" cy="9842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 spc="-10">
                <a:latin typeface="Calibri"/>
                <a:cs typeface="Calibri"/>
              </a:rPr>
              <a:t>Guide</a:t>
            </a:r>
            <a:endParaRPr sz="1000">
              <a:latin typeface="Calibri"/>
              <a:cs typeface="Calibri"/>
            </a:endParaRPr>
          </a:p>
          <a:p>
            <a:pPr marL="13970" marR="5080">
              <a:lnSpc>
                <a:spcPct val="118900"/>
              </a:lnSpc>
              <a:spcBef>
                <a:spcPts val="80"/>
              </a:spcBef>
            </a:pPr>
            <a:r>
              <a:rPr dirty="0" sz="1400" b="1">
                <a:solidFill>
                  <a:srgbClr val="0D358D"/>
                </a:solidFill>
                <a:latin typeface="Calibri"/>
                <a:cs typeface="Calibri"/>
              </a:rPr>
              <a:t>Gunjan</a:t>
            </a:r>
            <a:r>
              <a:rPr dirty="0" sz="1400" spc="-10" b="1">
                <a:solidFill>
                  <a:srgbClr val="0D358D"/>
                </a:solidFill>
                <a:latin typeface="Calibri"/>
                <a:cs typeface="Calibri"/>
              </a:rPr>
              <a:t> Mishra</a:t>
            </a:r>
            <a:r>
              <a:rPr dirty="0" sz="1400" spc="500" b="1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358D"/>
                </a:solidFill>
                <a:latin typeface="Calibri"/>
                <a:cs typeface="Calibri"/>
              </a:rPr>
              <a:t>[Subject</a:t>
            </a:r>
            <a:r>
              <a:rPr dirty="0" sz="1400" spc="110" b="1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D358D"/>
                </a:solidFill>
                <a:latin typeface="Calibri"/>
                <a:cs typeface="Calibri"/>
              </a:rPr>
              <a:t>Matter</a:t>
            </a:r>
            <a:r>
              <a:rPr dirty="0" sz="1400" spc="60" b="1">
                <a:solidFill>
                  <a:srgbClr val="0D358D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358D"/>
                </a:solidFill>
                <a:latin typeface="Calibri"/>
                <a:cs typeface="Calibri"/>
              </a:rPr>
              <a:t>Expert (AI&amp;ML)]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028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012" y="1017016"/>
            <a:ext cx="2766060" cy="303593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Abstract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45">
                <a:latin typeface="Calibri"/>
                <a:cs typeface="Calibri"/>
              </a:rPr>
              <a:t>of 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Problem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Proposed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Solution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Architecture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Live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Demo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45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Embedded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Video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Conclusion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25">
                <a:latin typeface="Calibri"/>
                <a:cs typeface="Calibri"/>
              </a:rPr>
              <a:t>Future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A screen 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864" y="978741"/>
            <a:ext cx="2420743" cy="3018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570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891" y="1280286"/>
            <a:ext cx="8487410" cy="356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E9ED4"/>
                </a:solidFill>
                <a:latin typeface="Arial"/>
                <a:cs typeface="Arial"/>
              </a:rPr>
              <a:t>AI</a:t>
            </a:r>
            <a:r>
              <a:rPr dirty="0" sz="2400" spc="-40" b="1">
                <a:solidFill>
                  <a:srgbClr val="0E9ED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9ED4"/>
                </a:solidFill>
                <a:latin typeface="Arial"/>
                <a:cs typeface="Arial"/>
              </a:rPr>
              <a:t>DSA</a:t>
            </a:r>
            <a:r>
              <a:rPr dirty="0" sz="2400" spc="-25" b="1">
                <a:solidFill>
                  <a:srgbClr val="0E9ED4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E9ED4"/>
                </a:solidFill>
                <a:latin typeface="Arial"/>
                <a:cs typeface="Arial"/>
              </a:rPr>
              <a:t>Tutor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dirty="0" sz="1600" spc="-35" b="1">
                <a:latin typeface="Arial"/>
                <a:cs typeface="Arial"/>
              </a:rPr>
              <a:t>AI-</a:t>
            </a:r>
            <a:r>
              <a:rPr dirty="0" sz="1600" b="1">
                <a:latin typeface="Arial"/>
                <a:cs typeface="Arial"/>
              </a:rPr>
              <a:t>Powered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Learning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&amp;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Practice</a:t>
            </a:r>
            <a:endParaRPr sz="1600">
              <a:latin typeface="Arial"/>
              <a:cs typeface="Arial"/>
            </a:endParaRPr>
          </a:p>
          <a:p>
            <a:pPr marL="139700" indent="-127000">
              <a:lnSpc>
                <a:spcPct val="100000"/>
              </a:lnSpc>
              <a:buChar char="•"/>
              <a:tabLst>
                <a:tab pos="139700" algn="l"/>
              </a:tabLst>
            </a:pPr>
            <a:r>
              <a:rPr dirty="0" sz="1600">
                <a:latin typeface="Arial"/>
                <a:cs typeface="Arial"/>
              </a:rPr>
              <a:t>An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interactive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practicing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Data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Structures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&amp;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Algorithms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through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problems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progressive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hints.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5080" indent="127635">
              <a:lnSpc>
                <a:spcPct val="100000"/>
              </a:lnSpc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Uses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Machine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Learning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Decision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Tree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predict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difficulty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key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problem features.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Provides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Easy,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Medium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&amp;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Hard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across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11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topics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confidence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scores.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Our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approach: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Practice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Hints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Understand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Improve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buFont typeface="Arial"/>
              <a:buChar char="•"/>
              <a:tabLst>
                <a:tab pos="140335" algn="l"/>
              </a:tabLst>
            </a:pP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Problem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AI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Prediction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Progressive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Hints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Better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Learning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dirty="0" spc="-105"/>
              <a:t> </a:t>
            </a:r>
            <a:r>
              <a:rPr dirty="0" spc="-1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488" y="3174492"/>
            <a:ext cx="523875" cy="1159510"/>
            <a:chOff x="94488" y="3174492"/>
            <a:chExt cx="523875" cy="1159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" y="3174492"/>
              <a:ext cx="523494" cy="4274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" y="3418332"/>
              <a:ext cx="523494" cy="4274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" y="3662172"/>
              <a:ext cx="523494" cy="4274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" y="3906012"/>
              <a:ext cx="523494" cy="42748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04012" y="1024890"/>
            <a:ext cx="5405120" cy="3927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2512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essential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for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placements—</a:t>
            </a:r>
            <a:r>
              <a:rPr dirty="0" sz="1600" b="1">
                <a:latin typeface="Arial"/>
                <a:cs typeface="Arial"/>
              </a:rPr>
              <a:t>but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students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often </a:t>
            </a:r>
            <a:r>
              <a:rPr dirty="0" sz="1600" b="1">
                <a:latin typeface="Arial"/>
                <a:cs typeface="Arial"/>
              </a:rPr>
              <a:t>struggle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learn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it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effectively.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Today's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DSA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practice:</a:t>
            </a:r>
            <a:endParaRPr sz="16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buFont typeface="Segoe UI Symbol"/>
              <a:buChar char="✓"/>
              <a:tabLst>
                <a:tab pos="220979" algn="l"/>
              </a:tabLst>
            </a:pPr>
            <a:r>
              <a:rPr dirty="0" sz="1600" spc="-10">
                <a:latin typeface="Arial"/>
                <a:cs typeface="Arial"/>
              </a:rPr>
              <a:t>Problems</a:t>
            </a:r>
            <a:endParaRPr sz="16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buFont typeface="Segoe UI Symbol"/>
              <a:buChar char="✓"/>
              <a:tabLst>
                <a:tab pos="220979" algn="l"/>
              </a:tabLst>
            </a:pPr>
            <a:r>
              <a:rPr dirty="0" sz="1600" spc="-10">
                <a:latin typeface="Arial"/>
                <a:cs typeface="Arial"/>
              </a:rPr>
              <a:t>Solutions</a:t>
            </a:r>
            <a:endParaRPr sz="1600">
              <a:latin typeface="Arial"/>
              <a:cs typeface="Arial"/>
            </a:endParaRPr>
          </a:p>
          <a:p>
            <a:pPr marL="220345" indent="-207645">
              <a:lnSpc>
                <a:spcPct val="100000"/>
              </a:lnSpc>
              <a:buFont typeface="Segoe UI Symbol"/>
              <a:buChar char="✓"/>
              <a:tabLst>
                <a:tab pos="220345" algn="l"/>
              </a:tabLst>
            </a:pPr>
            <a:r>
              <a:rPr dirty="0" sz="1600">
                <a:latin typeface="Arial"/>
                <a:cs typeface="Arial"/>
              </a:rPr>
              <a:t>Difficulty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Levels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Arial"/>
                <a:cs typeface="Arial"/>
              </a:rPr>
              <a:t>Missing</a:t>
            </a:r>
            <a:endParaRPr sz="1600">
              <a:latin typeface="Arial"/>
              <a:cs typeface="Arial"/>
            </a:endParaRPr>
          </a:p>
          <a:p>
            <a:pPr marL="34925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Personalized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guidance</a:t>
            </a:r>
            <a:endParaRPr sz="1600">
              <a:latin typeface="Arial"/>
              <a:cs typeface="Arial"/>
            </a:endParaRPr>
          </a:p>
          <a:p>
            <a:pPr marL="349250" marR="2281555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Step-</a:t>
            </a:r>
            <a:r>
              <a:rPr dirty="0" sz="1600" spc="-20">
                <a:latin typeface="Arial"/>
                <a:cs typeface="Arial"/>
              </a:rPr>
              <a:t>by-</a:t>
            </a:r>
            <a:r>
              <a:rPr dirty="0" sz="1600">
                <a:latin typeface="Arial"/>
                <a:cs typeface="Arial"/>
              </a:rPr>
              <a:t>step</a:t>
            </a:r>
            <a:r>
              <a:rPr dirty="0" sz="1600" spc="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hints Understanding-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learning </a:t>
            </a:r>
            <a:r>
              <a:rPr dirty="0" sz="1600" spc="-20">
                <a:latin typeface="Arial"/>
                <a:cs typeface="Arial"/>
              </a:rPr>
              <a:t>AI-</a:t>
            </a:r>
            <a:r>
              <a:rPr dirty="0" sz="1600">
                <a:latin typeface="Arial"/>
                <a:cs typeface="Arial"/>
              </a:rPr>
              <a:t>powered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difficulty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prediction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Need: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helps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students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Practice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Hints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Understand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Improve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 descr="A red person with a question mark above white puzzle pieces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9633" y="829678"/>
            <a:ext cx="4446778" cy="35231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301" rIns="0" bIns="0" rtlCol="0" vert="horz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00"/>
                </a:solidFill>
              </a:rPr>
              <a:t>The</a:t>
            </a:r>
            <a:r>
              <a:rPr dirty="0" sz="1800" spc="-5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Learning</a:t>
            </a:r>
            <a:r>
              <a:rPr dirty="0" sz="1800" spc="-45">
                <a:solidFill>
                  <a:srgbClr val="000000"/>
                </a:solidFill>
              </a:rPr>
              <a:t> </a:t>
            </a:r>
            <a:r>
              <a:rPr dirty="0" sz="1800" spc="-25">
                <a:solidFill>
                  <a:srgbClr val="000000"/>
                </a:solidFill>
              </a:rPr>
              <a:t>Gap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405485" y="1159255"/>
            <a:ext cx="8324850" cy="3013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student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may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solve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DSA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problem,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but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without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proper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guidance,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they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may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not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understand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how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approach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it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or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improve</a:t>
            </a:r>
            <a:r>
              <a:rPr dirty="0" sz="1600" spc="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their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problem-</a:t>
            </a:r>
            <a:r>
              <a:rPr dirty="0" sz="1600" b="1">
                <a:latin typeface="Arial"/>
                <a:cs typeface="Arial"/>
              </a:rPr>
              <a:t>solving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skills.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Bottom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learning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chain: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1600">
                <a:latin typeface="Arial"/>
                <a:cs typeface="Arial"/>
              </a:rPr>
              <a:t>DSA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→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Attempt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→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Difficulty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Assessment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→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Progressive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Hints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→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Understanding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→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Arial"/>
                <a:cs typeface="Arial"/>
              </a:rPr>
              <a:t>Improved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Solving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One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Killer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  <a:p>
            <a:pPr marL="12700" marR="172085">
              <a:lnSpc>
                <a:spcPct val="100000"/>
              </a:lnSpc>
              <a:spcBef>
                <a:spcPts val="1930"/>
              </a:spcBef>
            </a:pPr>
            <a:r>
              <a:rPr dirty="0" sz="1600" b="1">
                <a:latin typeface="Arial"/>
                <a:cs typeface="Arial"/>
              </a:rPr>
              <a:t>“The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problem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is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not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that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lack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resources.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problem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is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that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they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lack </a:t>
            </a:r>
            <a:r>
              <a:rPr dirty="0" sz="1600" b="1">
                <a:latin typeface="Arial"/>
                <a:cs typeface="Arial"/>
              </a:rPr>
              <a:t>the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right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guidance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at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right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time.”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968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dirty="0" spc="-105"/>
              <a:t> </a:t>
            </a:r>
            <a:r>
              <a:rPr dirty="0" spc="-10"/>
              <a:t>Solution</a:t>
            </a:r>
          </a:p>
        </p:txBody>
      </p:sp>
      <p:pic>
        <p:nvPicPr>
          <p:cNvPr id="3" name="object 3" descr="A person pushing a red arrow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353" y="1047686"/>
            <a:ext cx="4313047" cy="34451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5900" y="1473835"/>
            <a:ext cx="8048625" cy="33070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7719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AI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Tutor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provides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an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intelligent,</a:t>
            </a:r>
            <a:r>
              <a:rPr dirty="0" sz="1600" spc="-10" b="1">
                <a:latin typeface="Arial"/>
                <a:cs typeface="Arial"/>
              </a:rPr>
              <a:t> guided </a:t>
            </a:r>
            <a:r>
              <a:rPr dirty="0" sz="1600" b="1">
                <a:latin typeface="Arial"/>
                <a:cs typeface="Arial"/>
              </a:rPr>
              <a:t>environment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for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effective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learning.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buFont typeface="Segoe UI Symbol"/>
              <a:buChar char="✓"/>
              <a:tabLst>
                <a:tab pos="220979" algn="l"/>
              </a:tabLst>
            </a:pPr>
            <a:r>
              <a:rPr dirty="0" sz="1600">
                <a:latin typeface="Arial"/>
                <a:cs typeface="Arial"/>
              </a:rPr>
              <a:t>Curated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DSA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problems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across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multiple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topics</a:t>
            </a:r>
            <a:endParaRPr sz="16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buFont typeface="Segoe UI Symbol"/>
              <a:buChar char="✓"/>
              <a:tabLst>
                <a:tab pos="220979" algn="l"/>
              </a:tabLst>
            </a:pPr>
            <a:r>
              <a:rPr dirty="0" sz="1600" spc="-20">
                <a:latin typeface="Arial"/>
                <a:cs typeface="Arial"/>
              </a:rPr>
              <a:t>AI-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difficulty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prediction</a:t>
            </a:r>
            <a:endParaRPr sz="16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buFont typeface="Segoe UI Symbol"/>
              <a:buChar char="✓"/>
              <a:tabLst>
                <a:tab pos="220979" algn="l"/>
              </a:tabLst>
            </a:pPr>
            <a:r>
              <a:rPr dirty="0" sz="1600">
                <a:latin typeface="Arial"/>
                <a:cs typeface="Arial"/>
              </a:rPr>
              <a:t>Progressive,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personalized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hints</a:t>
            </a:r>
            <a:endParaRPr sz="1600">
              <a:latin typeface="Arial"/>
              <a:cs typeface="Arial"/>
            </a:endParaRPr>
          </a:p>
          <a:p>
            <a:pPr marL="220345" indent="-207645">
              <a:lnSpc>
                <a:spcPct val="100000"/>
              </a:lnSpc>
              <a:buFont typeface="Segoe UI Symbol"/>
              <a:buChar char="✓"/>
              <a:tabLst>
                <a:tab pos="220345" algn="l"/>
              </a:tabLst>
            </a:pPr>
            <a:r>
              <a:rPr dirty="0" sz="1600" spc="-10">
                <a:latin typeface="Arial"/>
                <a:cs typeface="Arial"/>
              </a:rPr>
              <a:t>Step-</a:t>
            </a:r>
            <a:r>
              <a:rPr dirty="0" sz="1600" spc="-20">
                <a:latin typeface="Arial"/>
                <a:cs typeface="Arial"/>
              </a:rPr>
              <a:t>by-</a:t>
            </a:r>
            <a:r>
              <a:rPr dirty="0" sz="1600">
                <a:latin typeface="Arial"/>
                <a:cs typeface="Arial"/>
              </a:rPr>
              <a:t>step</a:t>
            </a:r>
            <a:r>
              <a:rPr dirty="0" sz="1600" spc="7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problem-</a:t>
            </a:r>
            <a:r>
              <a:rPr dirty="0" sz="1600">
                <a:latin typeface="Arial"/>
                <a:cs typeface="Arial"/>
              </a:rPr>
              <a:t>solving</a:t>
            </a:r>
            <a:r>
              <a:rPr dirty="0" sz="1600" spc="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guidance</a:t>
            </a:r>
            <a:endParaRPr sz="16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Font typeface="Segoe UI Symbol"/>
              <a:buChar char="✓"/>
              <a:tabLst>
                <a:tab pos="220979" algn="l"/>
              </a:tabLst>
            </a:pP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confidence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score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10">
                <a:latin typeface="Arial"/>
                <a:cs typeface="Arial"/>
              </a:rPr>
              <a:t> predictions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Practice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Predict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Guide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→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Understand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→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Arial"/>
                <a:cs typeface="Arial"/>
              </a:rPr>
              <a:t>Improve</a:t>
            </a:r>
            <a:endParaRPr sz="1600">
              <a:latin typeface="Arial"/>
              <a:cs typeface="Arial"/>
            </a:endParaRPr>
          </a:p>
          <a:p>
            <a:pPr marL="281940">
              <a:lnSpc>
                <a:spcPct val="100000"/>
              </a:lnSpc>
              <a:spcBef>
                <a:spcPts val="695"/>
              </a:spcBef>
            </a:pPr>
            <a:r>
              <a:rPr dirty="0" sz="1750">
                <a:latin typeface="Arial"/>
                <a:cs typeface="Arial"/>
              </a:rPr>
              <a:t>Project</a:t>
            </a:r>
            <a:r>
              <a:rPr dirty="0" sz="1750" spc="-3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website</a:t>
            </a:r>
            <a:r>
              <a:rPr dirty="0" sz="1750" spc="-3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Link</a:t>
            </a:r>
            <a:r>
              <a:rPr dirty="0" sz="1750" spc="-2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:</a:t>
            </a:r>
            <a:r>
              <a:rPr dirty="0" sz="1750" spc="-30">
                <a:latin typeface="Arial"/>
                <a:cs typeface="Arial"/>
              </a:rPr>
              <a:t> </a:t>
            </a:r>
            <a:r>
              <a:rPr dirty="0" sz="1750" spc="-10">
                <a:latin typeface="Arial"/>
                <a:cs typeface="Arial"/>
                <a:hlinkClick r:id="rId3"/>
              </a:rPr>
              <a:t>https://ai-</a:t>
            </a:r>
            <a:r>
              <a:rPr dirty="0" sz="1750" spc="-25">
                <a:latin typeface="Arial"/>
                <a:cs typeface="Arial"/>
                <a:hlinkClick r:id="rId3"/>
              </a:rPr>
              <a:t>dsa-</a:t>
            </a:r>
            <a:r>
              <a:rPr dirty="0" sz="1750" spc="-10">
                <a:latin typeface="Arial"/>
                <a:cs typeface="Arial"/>
                <a:hlinkClick r:id="rId3"/>
              </a:rPr>
              <a:t>tutor-xttcrtgy7kavje5n62mypq.streamlit.app/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49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System</a:t>
            </a:r>
            <a:r>
              <a:rPr dirty="0" spc="-100"/>
              <a:t> </a:t>
            </a:r>
            <a:r>
              <a:rPr dirty="0" spc="-1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52550"/>
            <a:ext cx="3276600" cy="5782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5900" y="1486280"/>
            <a:ext cx="3896360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Interface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Problem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browsing,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topic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selection,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difficulty </a:t>
            </a:r>
            <a:r>
              <a:rPr dirty="0" sz="1600">
                <a:latin typeface="Arial"/>
                <a:cs typeface="Arial"/>
              </a:rPr>
              <a:t>levels,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interactive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interface.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891154"/>
            <a:ext cx="3276600" cy="5782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5900" y="3025267"/>
            <a:ext cx="3988435" cy="133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AI/ML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Uses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Decision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Tree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model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analyse </a:t>
            </a:r>
            <a:r>
              <a:rPr dirty="0" sz="1600">
                <a:latin typeface="Arial"/>
                <a:cs typeface="Arial"/>
              </a:rPr>
              <a:t>problem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features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predict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difficulty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a </a:t>
            </a:r>
            <a:r>
              <a:rPr dirty="0" sz="1600">
                <a:latin typeface="Arial"/>
                <a:cs typeface="Arial"/>
              </a:rPr>
              <a:t>confidence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score.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4014" y="1352550"/>
            <a:ext cx="3276600" cy="5782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84014" y="2891154"/>
            <a:ext cx="3276600" cy="5782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59934" y="1349121"/>
            <a:ext cx="4001135" cy="301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100" marR="17957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2. Problem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Hint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95"/>
              </a:spcBef>
            </a:pPr>
            <a:r>
              <a:rPr dirty="0" sz="1600">
                <a:latin typeface="Arial"/>
                <a:cs typeface="Arial"/>
              </a:rPr>
              <a:t>Stores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DSA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problems,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categories,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solutions,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progressive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hints.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600">
              <a:latin typeface="Arial"/>
              <a:cs typeface="Arial"/>
            </a:endParaRPr>
          </a:p>
          <a:p>
            <a:pPr marL="292100" marR="1135380">
              <a:lnSpc>
                <a:spcPct val="100000"/>
              </a:lnSpc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Feedback System</a:t>
            </a:r>
            <a:endParaRPr sz="1800">
              <a:latin typeface="Arial"/>
              <a:cs typeface="Arial"/>
            </a:endParaRPr>
          </a:p>
          <a:p>
            <a:pPr marL="12700" marR="39370">
              <a:lnSpc>
                <a:spcPct val="100000"/>
              </a:lnSpc>
              <a:spcBef>
                <a:spcPts val="1315"/>
              </a:spcBef>
            </a:pPr>
            <a:r>
              <a:rPr dirty="0" sz="1600">
                <a:latin typeface="Arial"/>
                <a:cs typeface="Arial"/>
              </a:rPr>
              <a:t>Provides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hints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guidance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help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users </a:t>
            </a:r>
            <a:r>
              <a:rPr dirty="0" sz="1600">
                <a:latin typeface="Arial"/>
                <a:cs typeface="Arial"/>
              </a:rPr>
              <a:t>understand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improve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problem-</a:t>
            </a:r>
            <a:r>
              <a:rPr dirty="0" sz="1600">
                <a:latin typeface="Arial"/>
                <a:cs typeface="Arial"/>
              </a:rPr>
              <a:t>solving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skills.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937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dirty="0"/>
              <a:t>Live</a:t>
            </a:r>
            <a:r>
              <a:rPr dirty="0" spc="-40"/>
              <a:t> </a:t>
            </a:r>
            <a:r>
              <a:rPr dirty="0"/>
              <a:t>Demo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 spc="-10"/>
              <a:t>Project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1464" y="1470660"/>
            <a:ext cx="8013065" cy="3282315"/>
            <a:chOff x="691464" y="1470660"/>
            <a:chExt cx="8013065" cy="3282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464" y="2253234"/>
              <a:ext cx="5334558" cy="24993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329" y="1556499"/>
              <a:ext cx="1022222" cy="10221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97329" y="1556385"/>
              <a:ext cx="1022350" cy="1022350"/>
            </a:xfrm>
            <a:custGeom>
              <a:avLst/>
              <a:gdLst/>
              <a:ahLst/>
              <a:cxnLst/>
              <a:rect l="l" t="t" r="r" b="b"/>
              <a:pathLst>
                <a:path w="1022350" h="1022350">
                  <a:moveTo>
                    <a:pt x="722757" y="0"/>
                  </a:moveTo>
                  <a:lnTo>
                    <a:pt x="1022222" y="299592"/>
                  </a:lnTo>
                  <a:lnTo>
                    <a:pt x="1022222" y="722757"/>
                  </a:lnTo>
                  <a:lnTo>
                    <a:pt x="722757" y="1022350"/>
                  </a:lnTo>
                  <a:lnTo>
                    <a:pt x="299465" y="1022350"/>
                  </a:lnTo>
                  <a:lnTo>
                    <a:pt x="0" y="722757"/>
                  </a:lnTo>
                  <a:lnTo>
                    <a:pt x="0" y="299592"/>
                  </a:lnTo>
                  <a:lnTo>
                    <a:pt x="299465" y="0"/>
                  </a:lnTo>
                  <a:lnTo>
                    <a:pt x="722757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6197" y="1502410"/>
              <a:ext cx="1140714" cy="11407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25261" y="2253234"/>
              <a:ext cx="2678811" cy="24993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1904" y="1556385"/>
              <a:ext cx="1022223" cy="10222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1904" y="1556385"/>
              <a:ext cx="1022350" cy="1022350"/>
            </a:xfrm>
            <a:custGeom>
              <a:avLst/>
              <a:gdLst/>
              <a:ahLst/>
              <a:cxnLst/>
              <a:rect l="l" t="t" r="r" b="b"/>
              <a:pathLst>
                <a:path w="1022350" h="1022350">
                  <a:moveTo>
                    <a:pt x="722756" y="0"/>
                  </a:moveTo>
                  <a:lnTo>
                    <a:pt x="1022223" y="299592"/>
                  </a:lnTo>
                  <a:lnTo>
                    <a:pt x="1022223" y="722757"/>
                  </a:lnTo>
                  <a:lnTo>
                    <a:pt x="722756" y="1022222"/>
                  </a:lnTo>
                  <a:lnTo>
                    <a:pt x="299466" y="1022222"/>
                  </a:lnTo>
                  <a:lnTo>
                    <a:pt x="0" y="722757"/>
                  </a:lnTo>
                  <a:lnTo>
                    <a:pt x="0" y="299592"/>
                  </a:lnTo>
                  <a:lnTo>
                    <a:pt x="299466" y="0"/>
                  </a:lnTo>
                  <a:lnTo>
                    <a:pt x="722756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16660" y="2774060"/>
            <a:ext cx="2351405" cy="1454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302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141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DSA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Problems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Select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choose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categorized</a:t>
            </a:r>
            <a:r>
              <a:rPr dirty="0" sz="16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DSA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070" y="2774060"/>
            <a:ext cx="2159635" cy="167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algn="ctr" marL="12700" marR="5080" indent="-1270">
              <a:lnSpc>
                <a:spcPct val="100000"/>
              </a:lnSpc>
              <a:spcBef>
                <a:spcPts val="1210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Progressive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Hints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Reveal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hints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step-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by-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directly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seeing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solution.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95135" y="2669285"/>
            <a:ext cx="2113280" cy="196088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ctr" marL="27940">
              <a:lnSpc>
                <a:spcPct val="100000"/>
              </a:lnSpc>
              <a:spcBef>
                <a:spcPts val="92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  <a:spcBef>
                <a:spcPts val="73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Difficulty</a:t>
            </a:r>
            <a:endParaRPr sz="16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endParaRPr sz="16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Show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ML-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predicted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difficulty,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confidence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score,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problem features.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51597" y="1490217"/>
            <a:ext cx="6729730" cy="1285240"/>
            <a:chOff x="1351597" y="1490217"/>
            <a:chExt cx="6729730" cy="128524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73855" y="1575942"/>
              <a:ext cx="1053211" cy="105321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73855" y="1575942"/>
              <a:ext cx="1053465" cy="1053465"/>
            </a:xfrm>
            <a:custGeom>
              <a:avLst/>
              <a:gdLst/>
              <a:ahLst/>
              <a:cxnLst/>
              <a:rect l="l" t="t" r="r" b="b"/>
              <a:pathLst>
                <a:path w="1053464" h="1053464">
                  <a:moveTo>
                    <a:pt x="744601" y="0"/>
                  </a:moveTo>
                  <a:lnTo>
                    <a:pt x="1053211" y="308610"/>
                  </a:lnTo>
                  <a:lnTo>
                    <a:pt x="1053211" y="744728"/>
                  </a:lnTo>
                  <a:lnTo>
                    <a:pt x="744601" y="1053211"/>
                  </a:lnTo>
                  <a:lnTo>
                    <a:pt x="308483" y="1053211"/>
                  </a:lnTo>
                  <a:lnTo>
                    <a:pt x="0" y="744728"/>
                  </a:lnTo>
                  <a:lnTo>
                    <a:pt x="0" y="308610"/>
                  </a:lnTo>
                  <a:lnTo>
                    <a:pt x="308483" y="0"/>
                  </a:lnTo>
                  <a:lnTo>
                    <a:pt x="744601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0109" y="1568767"/>
              <a:ext cx="1241298" cy="11538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65885" y="1554416"/>
              <a:ext cx="1270000" cy="1183005"/>
            </a:xfrm>
            <a:custGeom>
              <a:avLst/>
              <a:gdLst/>
              <a:ahLst/>
              <a:cxnLst/>
              <a:rect l="l" t="t" r="r" b="b"/>
              <a:pathLst>
                <a:path w="1270000" h="1183005">
                  <a:moveTo>
                    <a:pt x="0" y="1182433"/>
                  </a:moveTo>
                  <a:lnTo>
                    <a:pt x="1269873" y="1182433"/>
                  </a:lnTo>
                  <a:lnTo>
                    <a:pt x="1269873" y="0"/>
                  </a:lnTo>
                  <a:lnTo>
                    <a:pt x="0" y="0"/>
                  </a:lnTo>
                  <a:lnTo>
                    <a:pt x="0" y="1182433"/>
                  </a:lnTo>
                  <a:close/>
                </a:path>
              </a:pathLst>
            </a:custGeom>
            <a:ln w="28575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67175" y="1605927"/>
              <a:ext cx="1269720" cy="114070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52824" y="1591703"/>
              <a:ext cx="1298575" cy="1169670"/>
            </a:xfrm>
            <a:custGeom>
              <a:avLst/>
              <a:gdLst/>
              <a:ahLst/>
              <a:cxnLst/>
              <a:rect l="l" t="t" r="r" b="b"/>
              <a:pathLst>
                <a:path w="1298575" h="1169670">
                  <a:moveTo>
                    <a:pt x="0" y="1169276"/>
                  </a:moveTo>
                  <a:lnTo>
                    <a:pt x="1298321" y="1169276"/>
                  </a:lnTo>
                  <a:lnTo>
                    <a:pt x="1298321" y="0"/>
                  </a:lnTo>
                  <a:lnTo>
                    <a:pt x="0" y="0"/>
                  </a:lnTo>
                  <a:lnTo>
                    <a:pt x="0" y="1169276"/>
                  </a:lnTo>
                  <a:close/>
                </a:path>
              </a:pathLst>
            </a:custGeom>
            <a:ln w="28575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82562" y="1591195"/>
              <a:ext cx="1269720" cy="114070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68338" y="1576844"/>
              <a:ext cx="1298575" cy="1169670"/>
            </a:xfrm>
            <a:custGeom>
              <a:avLst/>
              <a:gdLst/>
              <a:ahLst/>
              <a:cxnLst/>
              <a:rect l="l" t="t" r="r" b="b"/>
              <a:pathLst>
                <a:path w="1298575" h="1169670">
                  <a:moveTo>
                    <a:pt x="0" y="1169276"/>
                  </a:moveTo>
                  <a:lnTo>
                    <a:pt x="1298321" y="1169276"/>
                  </a:lnTo>
                  <a:lnTo>
                    <a:pt x="1298321" y="0"/>
                  </a:lnTo>
                  <a:lnTo>
                    <a:pt x="0" y="0"/>
                  </a:lnTo>
                  <a:lnTo>
                    <a:pt x="0" y="1169276"/>
                  </a:lnTo>
                  <a:close/>
                </a:path>
              </a:pathLst>
            </a:custGeom>
            <a:ln w="28575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15900" y="1117219"/>
            <a:ext cx="4559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Here’s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list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some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projects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1355"/>
            <a:ext cx="9144000" cy="4962525"/>
            <a:chOff x="0" y="181355"/>
            <a:chExt cx="9144000" cy="496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81355"/>
              <a:ext cx="4647438" cy="31127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836" y="530351"/>
              <a:ext cx="4205052" cy="24349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386" y="483615"/>
              <a:ext cx="4294505" cy="2526665"/>
            </a:xfrm>
            <a:custGeom>
              <a:avLst/>
              <a:gdLst/>
              <a:ahLst/>
              <a:cxnLst/>
              <a:rect l="l" t="t" r="r" b="b"/>
              <a:pathLst>
                <a:path w="4294505" h="2526665">
                  <a:moveTo>
                    <a:pt x="494734" y="0"/>
                  </a:moveTo>
                  <a:lnTo>
                    <a:pt x="494734" y="2286"/>
                  </a:lnTo>
                  <a:lnTo>
                    <a:pt x="4293952" y="2286"/>
                  </a:lnTo>
                  <a:lnTo>
                    <a:pt x="4293952" y="2076958"/>
                  </a:lnTo>
                  <a:lnTo>
                    <a:pt x="4291666" y="2121916"/>
                  </a:lnTo>
                  <a:lnTo>
                    <a:pt x="4284935" y="2166620"/>
                  </a:lnTo>
                  <a:lnTo>
                    <a:pt x="4273759" y="2209800"/>
                  </a:lnTo>
                  <a:lnTo>
                    <a:pt x="4258646" y="2251202"/>
                  </a:lnTo>
                  <a:lnTo>
                    <a:pt x="4239596" y="2290572"/>
                  </a:lnTo>
                  <a:lnTo>
                    <a:pt x="4217117" y="2327656"/>
                  </a:lnTo>
                  <a:lnTo>
                    <a:pt x="4191209" y="2362327"/>
                  </a:lnTo>
                  <a:lnTo>
                    <a:pt x="4162126" y="2394331"/>
                  </a:lnTo>
                  <a:lnTo>
                    <a:pt x="4130122" y="2423414"/>
                  </a:lnTo>
                  <a:lnTo>
                    <a:pt x="4095451" y="2449322"/>
                  </a:lnTo>
                  <a:lnTo>
                    <a:pt x="4058367" y="2471801"/>
                  </a:lnTo>
                  <a:lnTo>
                    <a:pt x="4018997" y="2490851"/>
                  </a:lnTo>
                  <a:lnTo>
                    <a:pt x="3977595" y="2505964"/>
                  </a:lnTo>
                  <a:lnTo>
                    <a:pt x="3934415" y="2517140"/>
                  </a:lnTo>
                  <a:lnTo>
                    <a:pt x="3889711" y="2523871"/>
                  </a:lnTo>
                  <a:lnTo>
                    <a:pt x="3844753" y="2526157"/>
                  </a:lnTo>
                  <a:lnTo>
                    <a:pt x="0" y="2526157"/>
                  </a:lnTo>
                  <a:lnTo>
                    <a:pt x="0" y="451485"/>
                  </a:lnTo>
                  <a:lnTo>
                    <a:pt x="2264" y="406654"/>
                  </a:lnTo>
                  <a:lnTo>
                    <a:pt x="9089" y="361950"/>
                  </a:lnTo>
                  <a:lnTo>
                    <a:pt x="20195" y="318770"/>
                  </a:lnTo>
                  <a:lnTo>
                    <a:pt x="35350" y="277241"/>
                  </a:lnTo>
                  <a:lnTo>
                    <a:pt x="54322" y="237871"/>
                  </a:lnTo>
                  <a:lnTo>
                    <a:pt x="76879" y="200787"/>
                  </a:lnTo>
                  <a:lnTo>
                    <a:pt x="102800" y="166116"/>
                  </a:lnTo>
                  <a:lnTo>
                    <a:pt x="131845" y="134112"/>
                  </a:lnTo>
                  <a:lnTo>
                    <a:pt x="163810" y="105156"/>
                  </a:lnTo>
                  <a:lnTo>
                    <a:pt x="198469" y="79248"/>
                  </a:lnTo>
                  <a:lnTo>
                    <a:pt x="235604" y="56642"/>
                  </a:lnTo>
                  <a:lnTo>
                    <a:pt x="274986" y="37719"/>
                  </a:lnTo>
                  <a:lnTo>
                    <a:pt x="316401" y="22479"/>
                  </a:lnTo>
                  <a:lnTo>
                    <a:pt x="359581" y="11430"/>
                  </a:lnTo>
                  <a:lnTo>
                    <a:pt x="404310" y="4572"/>
                  </a:lnTo>
                  <a:lnTo>
                    <a:pt x="494734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8600" y="2311957"/>
              <a:ext cx="5105400" cy="28315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4166" y="2661538"/>
              <a:ext cx="4449952" cy="224090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39716" y="2614803"/>
              <a:ext cx="4538980" cy="2332355"/>
            </a:xfrm>
            <a:custGeom>
              <a:avLst/>
              <a:gdLst/>
              <a:ahLst/>
              <a:cxnLst/>
              <a:rect l="l" t="t" r="r" b="b"/>
              <a:pathLst>
                <a:path w="4538980" h="2332354">
                  <a:moveTo>
                    <a:pt x="462407" y="0"/>
                  </a:moveTo>
                  <a:lnTo>
                    <a:pt x="462407" y="2286"/>
                  </a:lnTo>
                  <a:lnTo>
                    <a:pt x="4538980" y="2286"/>
                  </a:lnTo>
                  <a:lnTo>
                    <a:pt x="4538980" y="1915274"/>
                  </a:lnTo>
                  <a:lnTo>
                    <a:pt x="4536821" y="1956816"/>
                  </a:lnTo>
                  <a:lnTo>
                    <a:pt x="4530471" y="1998332"/>
                  </a:lnTo>
                  <a:lnTo>
                    <a:pt x="4520184" y="2038426"/>
                  </a:lnTo>
                  <a:lnTo>
                    <a:pt x="4506087" y="2076856"/>
                  </a:lnTo>
                  <a:lnTo>
                    <a:pt x="4488561" y="2113407"/>
                  </a:lnTo>
                  <a:lnTo>
                    <a:pt x="4467606" y="2147874"/>
                  </a:lnTo>
                  <a:lnTo>
                    <a:pt x="4443603" y="2180043"/>
                  </a:lnTo>
                  <a:lnTo>
                    <a:pt x="4416552" y="2209711"/>
                  </a:lnTo>
                  <a:lnTo>
                    <a:pt x="4386961" y="2236673"/>
                  </a:lnTo>
                  <a:lnTo>
                    <a:pt x="4354703" y="2260727"/>
                  </a:lnTo>
                  <a:lnTo>
                    <a:pt x="4320286" y="2281669"/>
                  </a:lnTo>
                  <a:lnTo>
                    <a:pt x="4283710" y="2299284"/>
                  </a:lnTo>
                  <a:lnTo>
                    <a:pt x="4245229" y="2313355"/>
                  </a:lnTo>
                  <a:lnTo>
                    <a:pt x="4205224" y="2323655"/>
                  </a:lnTo>
                  <a:lnTo>
                    <a:pt x="4163694" y="2329992"/>
                  </a:lnTo>
                  <a:lnTo>
                    <a:pt x="4122166" y="2332088"/>
                  </a:lnTo>
                  <a:lnTo>
                    <a:pt x="0" y="2332088"/>
                  </a:lnTo>
                  <a:lnTo>
                    <a:pt x="0" y="419100"/>
                  </a:lnTo>
                  <a:lnTo>
                    <a:pt x="2159" y="377571"/>
                  </a:lnTo>
                  <a:lnTo>
                    <a:pt x="8509" y="336042"/>
                  </a:lnTo>
                  <a:lnTo>
                    <a:pt x="18796" y="295910"/>
                  </a:lnTo>
                  <a:lnTo>
                    <a:pt x="32893" y="257556"/>
                  </a:lnTo>
                  <a:lnTo>
                    <a:pt x="50419" y="220980"/>
                  </a:lnTo>
                  <a:lnTo>
                    <a:pt x="71374" y="186563"/>
                  </a:lnTo>
                  <a:lnTo>
                    <a:pt x="95504" y="154305"/>
                  </a:lnTo>
                  <a:lnTo>
                    <a:pt x="122428" y="124714"/>
                  </a:lnTo>
                  <a:lnTo>
                    <a:pt x="152146" y="97663"/>
                  </a:lnTo>
                  <a:lnTo>
                    <a:pt x="184277" y="73660"/>
                  </a:lnTo>
                  <a:lnTo>
                    <a:pt x="218694" y="52705"/>
                  </a:lnTo>
                  <a:lnTo>
                    <a:pt x="255270" y="35052"/>
                  </a:lnTo>
                  <a:lnTo>
                    <a:pt x="293750" y="21082"/>
                  </a:lnTo>
                  <a:lnTo>
                    <a:pt x="333756" y="10795"/>
                  </a:lnTo>
                  <a:lnTo>
                    <a:pt x="375285" y="4445"/>
                  </a:lnTo>
                  <a:lnTo>
                    <a:pt x="462407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2035" y="490728"/>
              <a:ext cx="2510790" cy="31173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7155" y="3058667"/>
              <a:ext cx="2346198" cy="2084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556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dirty="0"/>
              <a:t>Video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Project</a:t>
            </a:r>
            <a:r>
              <a:rPr dirty="0" spc="-50"/>
              <a:t> </a:t>
            </a:r>
            <a:r>
              <a:rPr dirty="0" spc="-20"/>
              <a:t>Demo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43" y="457250"/>
            <a:ext cx="8724138" cy="45556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937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663575" indent="1276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40335" algn="l"/>
              </a:tabLst>
            </a:pPr>
            <a:r>
              <a:rPr dirty="0" b="1">
                <a:latin typeface="Arial"/>
                <a:cs typeface="Arial"/>
              </a:rPr>
              <a:t>AI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DSA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Tutor </a:t>
            </a:r>
            <a:r>
              <a:rPr dirty="0"/>
              <a:t>addresses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key</a:t>
            </a:r>
            <a:r>
              <a:rPr dirty="0" spc="-40"/>
              <a:t> </a:t>
            </a:r>
            <a:r>
              <a:rPr dirty="0"/>
              <a:t>challenge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25"/>
              <a:t>DSA </a:t>
            </a:r>
            <a:r>
              <a:rPr dirty="0" spc="-20"/>
              <a:t>learning—</a:t>
            </a:r>
            <a:r>
              <a:rPr dirty="0"/>
              <a:t>helping</a:t>
            </a:r>
            <a:r>
              <a:rPr dirty="0" spc="-55"/>
              <a:t> </a:t>
            </a:r>
            <a:r>
              <a:rPr dirty="0"/>
              <a:t>students</a:t>
            </a:r>
            <a:r>
              <a:rPr dirty="0" spc="-20"/>
              <a:t> </a:t>
            </a:r>
            <a:r>
              <a:rPr dirty="0"/>
              <a:t>practice</a:t>
            </a:r>
            <a:r>
              <a:rPr dirty="0" spc="-35"/>
              <a:t> </a:t>
            </a:r>
            <a:r>
              <a:rPr dirty="0"/>
              <a:t>effectively</a:t>
            </a:r>
            <a:r>
              <a:rPr dirty="0" spc="-40"/>
              <a:t> </a:t>
            </a:r>
            <a:r>
              <a:rPr dirty="0" spc="-10"/>
              <a:t>while </a:t>
            </a:r>
            <a:r>
              <a:rPr dirty="0"/>
              <a:t>developing</a:t>
            </a:r>
            <a:r>
              <a:rPr dirty="0" spc="-60"/>
              <a:t> </a:t>
            </a:r>
            <a:r>
              <a:rPr dirty="0"/>
              <a:t>independent</a:t>
            </a:r>
            <a:r>
              <a:rPr dirty="0" spc="-45"/>
              <a:t> </a:t>
            </a:r>
            <a:r>
              <a:rPr dirty="0" spc="-10"/>
              <a:t>problem-</a:t>
            </a:r>
            <a:r>
              <a:rPr dirty="0"/>
              <a:t>solving</a:t>
            </a:r>
            <a:r>
              <a:rPr dirty="0" spc="-50"/>
              <a:t> </a:t>
            </a:r>
            <a:r>
              <a:rPr dirty="0" spc="-10"/>
              <a:t>skills.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</a:p>
          <a:p>
            <a:pPr marL="12700" marR="5080" indent="127635">
              <a:lnSpc>
                <a:spcPct val="100000"/>
              </a:lnSpc>
              <a:spcBef>
                <a:spcPts val="5"/>
              </a:spcBef>
              <a:buChar char="•"/>
              <a:tabLst>
                <a:tab pos="140335" algn="l"/>
              </a:tabLst>
            </a:pPr>
            <a:r>
              <a:rPr dirty="0"/>
              <a:t>By</a:t>
            </a:r>
            <a:r>
              <a:rPr dirty="0" spc="-45"/>
              <a:t> </a:t>
            </a:r>
            <a:r>
              <a:rPr dirty="0"/>
              <a:t>combining</a:t>
            </a:r>
            <a:r>
              <a:rPr dirty="0" spc="-50"/>
              <a:t> </a:t>
            </a:r>
            <a:r>
              <a:rPr dirty="0" spc="-35" b="1">
                <a:latin typeface="Arial"/>
                <a:cs typeface="Arial"/>
              </a:rPr>
              <a:t>AI-</a:t>
            </a:r>
            <a:r>
              <a:rPr dirty="0" b="1">
                <a:latin typeface="Arial"/>
                <a:cs typeface="Arial"/>
              </a:rPr>
              <a:t>powered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difficulty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prediction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20"/>
              <a:t>with </a:t>
            </a:r>
            <a:r>
              <a:rPr dirty="0" b="1">
                <a:latin typeface="Arial"/>
                <a:cs typeface="Arial"/>
              </a:rPr>
              <a:t>progressive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hints</a:t>
            </a:r>
            <a:r>
              <a:rPr dirty="0"/>
              <a:t>,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platform</a:t>
            </a:r>
            <a:r>
              <a:rPr dirty="0" spc="-35"/>
              <a:t> </a:t>
            </a:r>
            <a:r>
              <a:rPr dirty="0"/>
              <a:t>provides</a:t>
            </a:r>
            <a:r>
              <a:rPr dirty="0" spc="-50"/>
              <a:t> </a:t>
            </a:r>
            <a:r>
              <a:rPr dirty="0" spc="-10"/>
              <a:t>personalized</a:t>
            </a:r>
            <a:r>
              <a:rPr dirty="0" spc="-80"/>
              <a:t> </a:t>
            </a:r>
            <a:r>
              <a:rPr dirty="0" spc="-25"/>
              <a:t>and </a:t>
            </a:r>
            <a:r>
              <a:rPr dirty="0"/>
              <a:t>engaging</a:t>
            </a:r>
            <a:r>
              <a:rPr dirty="0" spc="-70"/>
              <a:t> </a:t>
            </a:r>
            <a:r>
              <a:rPr dirty="0"/>
              <a:t>learning</a:t>
            </a:r>
            <a:r>
              <a:rPr dirty="0" spc="-50"/>
              <a:t> </a:t>
            </a:r>
            <a:r>
              <a:rPr dirty="0" spc="-10"/>
              <a:t>support.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</a:p>
          <a:p>
            <a:pPr marL="140335" indent="-127635">
              <a:lnSpc>
                <a:spcPct val="100000"/>
              </a:lnSpc>
              <a:buFont typeface="Arial"/>
              <a:buChar char="•"/>
              <a:tabLst>
                <a:tab pos="140335" algn="l"/>
              </a:tabLst>
            </a:pPr>
            <a:r>
              <a:rPr dirty="0" b="1">
                <a:latin typeface="Arial"/>
                <a:cs typeface="Arial"/>
              </a:rPr>
              <a:t>Our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vision:</a:t>
            </a: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Practice.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Get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Guided.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Understand.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Improve.</a:t>
            </a:r>
          </a:p>
        </p:txBody>
      </p:sp>
      <p:pic>
        <p:nvPicPr>
          <p:cNvPr id="4" name="object 4" descr="A blue circle with a pencil and paper with a star on i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9992" y="1342692"/>
            <a:ext cx="2240067" cy="29179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7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dirty="0" spc="-75"/>
              <a:t> </a:t>
            </a:r>
            <a:r>
              <a:rPr dirty="0" spc="-10"/>
              <a:t>Scope</a:t>
            </a:r>
          </a:p>
        </p:txBody>
      </p:sp>
      <p:pic>
        <p:nvPicPr>
          <p:cNvPr id="3" name="object 3" descr="A blue and black head with a light bulb insid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3650" y="1188395"/>
            <a:ext cx="2831169" cy="29928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476" y="1137285"/>
            <a:ext cx="5620385" cy="3683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195" indent="127635">
              <a:lnSpc>
                <a:spcPct val="100000"/>
              </a:lnSpc>
              <a:spcBef>
                <a:spcPts val="95"/>
              </a:spcBef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Expand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more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topics,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problems,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and </a:t>
            </a:r>
            <a:r>
              <a:rPr dirty="0" sz="1600" b="1">
                <a:latin typeface="Arial"/>
                <a:cs typeface="Arial"/>
              </a:rPr>
              <a:t>personalized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learning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paths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 marR="375920" indent="127635">
              <a:lnSpc>
                <a:spcPct val="100000"/>
              </a:lnSpc>
              <a:spcBef>
                <a:spcPts val="5"/>
              </a:spcBef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Introduce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35" b="1">
                <a:latin typeface="Arial"/>
                <a:cs typeface="Arial"/>
              </a:rPr>
              <a:t>AI-</a:t>
            </a:r>
            <a:r>
              <a:rPr dirty="0" sz="1600" b="1">
                <a:latin typeface="Arial"/>
                <a:cs typeface="Arial"/>
              </a:rPr>
              <a:t>generated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hints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and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adaptive recommendations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individual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progress.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5"/>
              </a:spcBef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Add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code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evaluation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and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performance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analysis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provide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instant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feedback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student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solutions.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963294" indent="127635">
              <a:lnSpc>
                <a:spcPct val="100000"/>
              </a:lnSpc>
              <a:buChar char="•"/>
              <a:tabLst>
                <a:tab pos="140335" algn="l"/>
              </a:tabLst>
            </a:pPr>
            <a:r>
              <a:rPr dirty="0" sz="1600">
                <a:latin typeface="Arial"/>
                <a:cs typeface="Arial"/>
              </a:rPr>
              <a:t>Integrate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progress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tracking,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achievements,</a:t>
            </a:r>
            <a:r>
              <a:rPr dirty="0" sz="1600" spc="-25" b="1">
                <a:latin typeface="Arial"/>
                <a:cs typeface="Arial"/>
              </a:rPr>
              <a:t> and </a:t>
            </a:r>
            <a:r>
              <a:rPr dirty="0" sz="1600" b="1">
                <a:latin typeface="Arial"/>
                <a:cs typeface="Arial"/>
              </a:rPr>
              <a:t>personalized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dashboards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continuous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learning.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42799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Arial"/>
                <a:cs typeface="Arial"/>
              </a:rPr>
              <a:t>“The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future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DSA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learning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is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not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just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solving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more problems—</a:t>
            </a:r>
            <a:r>
              <a:rPr dirty="0" sz="1600" b="1">
                <a:latin typeface="Arial"/>
                <a:cs typeface="Arial"/>
              </a:rPr>
              <a:t>it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is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helping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every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solve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problems smarter.”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36875" y="2152853"/>
            <a:ext cx="3269615" cy="7886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>
                <a:solidFill>
                  <a:srgbClr val="0D358D"/>
                </a:solidFill>
              </a:rPr>
              <a:t>Thank</a:t>
            </a:r>
            <a:r>
              <a:rPr dirty="0" sz="5000" spc="-65">
                <a:solidFill>
                  <a:srgbClr val="0D358D"/>
                </a:solidFill>
              </a:rPr>
              <a:t> </a:t>
            </a:r>
            <a:r>
              <a:rPr dirty="0" sz="5000" spc="-25">
                <a:solidFill>
                  <a:srgbClr val="0D358D"/>
                </a:solidFill>
              </a:rPr>
              <a:t>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 Moinudeen Syed</dc:creator>
  <dc:title>PowerPoint Presentation</dc:title>
  <dcterms:created xsi:type="dcterms:W3CDTF">2026-08-27T10:05:54Z</dcterms:created>
  <dcterms:modified xsi:type="dcterms:W3CDTF">2026-08-27T10:05:54Z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2026-08-27T00:00:00Z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2026-08-27T00:00:00Z</vt:filetime>
  </property>
  <property fmtid="{D5CDD505-2E9C-101B-9397-08002B2CF9AE}" pid="5" name="Producer">
    <vt:lpwstr>Microsoft® PowerPoint® 2024</vt:lpwstr>
  </property>
</Properties>
</file>